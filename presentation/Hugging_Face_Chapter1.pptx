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426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OFFICIAL LLM COURSE · CHAPTER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84124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Hugging Face Chapter 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7040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Ultimate Revision Deck — Transformer Models, LLM inference, architectures, and exam 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3794760"/>
            <a:ext cx="10789920" cy="566928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6D7B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Text → Tokenization → Tokens/IDs → Embeddings → Transformer → Logits → Token Selection → Output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4800600"/>
            <a:ext cx="10424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Built as a final study deck: concepts, syntax, diagrams, exam traps, and security links.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5943600"/>
            <a:ext cx="10424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Taha El Cheikh · AI Red Teaming / Hugging Face LLM Course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deck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Revision workflow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3520440" cy="18745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Read in 3 passes
</a:t>
            </a:r>
            <a:r>
              <a:rPr lang="en-US" sz="1380" dirty="0">
                <a:solidFill>
                  <a:srgbClr val="1F2937"/>
                </a:solidFill>
              </a:rPr>
              <a:t>• Pass 1: architecture map and pipeline syntax
• Pass 2: BERT / GPT / T5 differences
• Pass 3: exam traps + AI security links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" y="1490472"/>
            <a:ext cx="330098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051560"/>
            <a:ext cx="3657600" cy="260604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What is inside
</a:t>
            </a:r>
            <a:r>
              <a:rPr lang="en-US" sz="1380" dirty="0">
                <a:solidFill>
                  <a:srgbClr val="1F2937"/>
                </a:solidFill>
              </a:rPr>
              <a:t>• Real pipeline() code syntax
• Timeline of Transformer models
• Task solving: BERT, GPT-2, BART, ViT, Whisper
• Inference: prefill, decode, sampling, KV cache
• Bias example, carbon footprint, long-context models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53128" y="1490472"/>
            <a:ext cx="3438144" cy="0"/>
          </a:xfrm>
          <a:prstGeom prst="line">
            <a:avLst/>
          </a:prstGeom>
          <a:noFill/>
          <a:ln w="1905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051560"/>
            <a:ext cx="3383280" cy="109728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Goal
</a:t>
            </a:r>
            <a:r>
              <a:rPr lang="en-US" sz="1380" dirty="0">
                <a:solidFill>
                  <a:srgbClr val="1F2937"/>
                </a:solidFill>
              </a:rPr>
              <a:t>• Understand → Practice → Explain it yourself → Pass quiz → Apply in LLM projects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339328" y="1490472"/>
            <a:ext cx="316382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10469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</a:rPr>
              <a:t>Exam strategy: memorize the architecture mapping, then reason from the task type. Do not memorize model names alone.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Chapter 1 mental map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whole chapter in one slide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1218" y="1012698"/>
            <a:ext cx="1815084" cy="725424"/>
          </a:xfrm>
          <a:prstGeom prst="rect">
            <a:avLst/>
          </a:prstGeom>
          <a:solidFill>
            <a:srgbClr val="EAF2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Topic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30018" y="1012698"/>
            <a:ext cx="4649724" cy="725424"/>
          </a:xfrm>
          <a:prstGeom prst="rect">
            <a:avLst/>
          </a:prstGeom>
          <a:solidFill>
            <a:srgbClr val="EAF2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Core idea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93458" y="1012698"/>
            <a:ext cx="4466844" cy="725424"/>
          </a:xfrm>
          <a:prstGeom prst="rect">
            <a:avLst/>
          </a:prstGeom>
          <a:solidFill>
            <a:srgbClr val="EAF2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Must remember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1218" y="1751838"/>
            <a:ext cx="181508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NLP &amp; LLMs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430018" y="1751838"/>
            <a:ext cx="464972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Language tasks and general-purpose LLMs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093458" y="1751838"/>
            <a:ext cx="446684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NLP is the field; LLMs are powerful models inside it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01218" y="2490978"/>
            <a:ext cx="1815084" cy="72542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Pipelines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430018" y="2490978"/>
            <a:ext cx="4649724" cy="72542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Use pretrained models quickly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093458" y="2490978"/>
            <a:ext cx="4466844" cy="72542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preprocess → inference → post-process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01218" y="3230118"/>
            <a:ext cx="181508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Architecture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430018" y="3230118"/>
            <a:ext cx="464972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 / Decoder / Encoder-Decoder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093458" y="3230118"/>
            <a:ext cx="446684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choose by task type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1218" y="3969258"/>
            <a:ext cx="1815084" cy="72542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Inference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30018" y="3969258"/>
            <a:ext cx="4649724" cy="72542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Generate token-by-token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093458" y="3969258"/>
            <a:ext cx="4466844" cy="72542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prefill + decode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01218" y="4708398"/>
            <a:ext cx="181508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Limitations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30018" y="4708398"/>
            <a:ext cx="464972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Bias, hallucinations, context limits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093458" y="4708398"/>
            <a:ext cx="4466844" cy="72542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evaluate before production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68680" y="5715000"/>
            <a:ext cx="10469880" cy="45720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One sentence summary: Chapter 1 teaches what Transformer models can do, which architecture to choose, and how LLMs generate text during inference.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Foundations: NLP, LLMs, and the full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Start with the big picture before architectures.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NLP vs LLM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Do not confuse field and model type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5120640" cy="242316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NLP — Natural Language Processing
</a:t>
            </a:r>
            <a:r>
              <a:rPr lang="en-US" sz="1380" dirty="0">
                <a:solidFill>
                  <a:srgbClr val="1F2937"/>
                </a:solidFill>
              </a:rPr>
              <a:t>• Broad field for processing human language
• Tasks: classification, NER, QA, translation, summarization
• Goal: understand context, not isolated words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1490472"/>
            <a:ext cx="490118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51560"/>
            <a:ext cx="5120640" cy="242316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LLM — Large Language Model
</a:t>
            </a:r>
            <a:r>
              <a:rPr lang="en-US" sz="1380" dirty="0">
                <a:solidFill>
                  <a:srgbClr val="1F2937"/>
                </a:solidFill>
              </a:rPr>
              <a:t>• A powerful subset of NLP models
• Trained on massive text datasets
• Can perform many tasks through prompting or fine-tuning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10528" y="1490472"/>
            <a:ext cx="490118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4069080"/>
            <a:ext cx="9692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NLP is the field. LLMs are modern models used inside NLP.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5074920"/>
            <a:ext cx="9692640" cy="512064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F2937"/>
                </a:solidFill>
              </a:rPr>
              <a:t>Example: Sentiment analysis is an NLP task. Llama or GPT can perform it as an LLM.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LLM pipeline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map you should keep in your head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969264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Text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72184" y="1051560"/>
            <a:ext cx="969264" cy="4572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Tokenization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32888" y="1051560"/>
            <a:ext cx="969264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Token IDs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93592" y="1051560"/>
            <a:ext cx="969264" cy="4572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Embeddings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54296" y="1051560"/>
            <a:ext cx="969264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1051560"/>
            <a:ext cx="969264" cy="4572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Hidden States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75704" y="1051560"/>
            <a:ext cx="969264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Head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36408" y="1051560"/>
            <a:ext cx="969264" cy="4572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Logits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97112" y="1051560"/>
            <a:ext cx="969264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Probabilities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57816" y="1051560"/>
            <a:ext cx="969264" cy="4572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Token Selection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18520" y="1051560"/>
            <a:ext cx="969264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2057400"/>
            <a:ext cx="5303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What each step means
</a:t>
            </a:r>
            <a:r>
              <a:rPr lang="en-US" sz="1380" dirty="0">
                <a:solidFill>
                  <a:srgbClr val="1F2937"/>
                </a:solidFill>
              </a:rPr>
              <a:t>• Tokenizer converts text into tokens and token IDs
• Embeddings turn IDs into vectors
• Transformer applies attention and learned parameters
• Task head converts hidden states into logits
• Softmax/sampling converts scores into a final token or label
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1248" y="2496312"/>
            <a:ext cx="50840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057400"/>
            <a:ext cx="5074920" cy="237744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Security mindset
</a:t>
            </a:r>
            <a:r>
              <a:rPr lang="en-US" sz="1380" dirty="0">
                <a:solidFill>
                  <a:srgbClr val="1F2937"/>
                </a:solidFill>
              </a:rPr>
              <a:t>• Every prompt becomes tokens in one context
• System, user, documents, and tool outputs may share the same context
• This is why prompt injection and context manipulation matter
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10528" y="2496312"/>
            <a:ext cx="485546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🤗 Transformers: pipeline()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The fastest way to run pretrained models.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pipeline(): real syntax and 3 phases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This is the first tool in the course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0749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transformers import pipeline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classifier = pipeline("sentiment-analysis")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 = classifier("I love this course!")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print(result)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72200" y="1143000"/>
            <a:ext cx="5074920" cy="187452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Inside pipeline()
</a:t>
            </a:r>
            <a:r>
              <a:rPr lang="en-US" sz="1380" dirty="0">
                <a:solidFill>
                  <a:srgbClr val="1F2937"/>
                </a:solidFill>
              </a:rPr>
              <a:t>• 1. Preprocessing: raw text → model inputs
• 2. Model inference: pretrained model predicts
• 3. Post-processing: logits/scores → readable output
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81928" y="1581912"/>
            <a:ext cx="4855464" cy="0"/>
          </a:xfrm>
          <a:prstGeom prst="line">
            <a:avLst/>
          </a:prstGeom>
          <a:noFill/>
          <a:ln w="1905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794760"/>
            <a:ext cx="507492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Typical output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[{'label': 'POSITIVE', 'score': 0.999}]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72200" y="3794760"/>
            <a:ext cx="5074920" cy="82296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Important: calling pipeline() for inference does not update model weights.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task names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Useful names to type exactly in code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9778" y="921258"/>
            <a:ext cx="2912364" cy="590804"/>
          </a:xfrm>
          <a:prstGeom prst="rect">
            <a:avLst/>
          </a:prstGeom>
          <a:solidFill>
            <a:srgbClr val="FFF2D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Task name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35858" y="921258"/>
            <a:ext cx="4649724" cy="590804"/>
          </a:xfrm>
          <a:prstGeom prst="rect">
            <a:avLst/>
          </a:prstGeom>
          <a:solidFill>
            <a:srgbClr val="FFF2D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Purpose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99298" y="921258"/>
            <a:ext cx="3643884" cy="590804"/>
          </a:xfrm>
          <a:prstGeom prst="rect">
            <a:avLst/>
          </a:prstGeom>
          <a:solidFill>
            <a:srgbClr val="FFF2D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Typical 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9778" y="1525778"/>
            <a:ext cx="291236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text-classification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435858" y="1525778"/>
            <a:ext cx="464972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Classify text into labels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099298" y="1525778"/>
            <a:ext cx="364388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09778" y="2130298"/>
            <a:ext cx="291236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zero-shot-classification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35858" y="2130298"/>
            <a:ext cx="464972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Classify using labels you provide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099298" y="2130298"/>
            <a:ext cx="364388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 / NLI model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09778" y="2734818"/>
            <a:ext cx="291236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fill-mask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435858" y="2734818"/>
            <a:ext cx="464972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Predict a masked token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099298" y="2734818"/>
            <a:ext cx="364388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09778" y="3339338"/>
            <a:ext cx="291236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ner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435858" y="3339338"/>
            <a:ext cx="464972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Named entity recognition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099298" y="3339338"/>
            <a:ext cx="364388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09778" y="3943858"/>
            <a:ext cx="291236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question-answering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435858" y="3943858"/>
            <a:ext cx="464972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Extract answer span from context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099298" y="3943858"/>
            <a:ext cx="364388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9778" y="4548378"/>
            <a:ext cx="291236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text-generation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435858" y="4548378"/>
            <a:ext cx="464972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Generate continuation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099298" y="4548378"/>
            <a:ext cx="364388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Decoder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09778" y="5152898"/>
            <a:ext cx="291236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summarization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435858" y="5152898"/>
            <a:ext cx="464972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Long text → short text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099298" y="5152898"/>
            <a:ext cx="3643884" cy="59080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Encoder-Decoder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09778" y="5757418"/>
            <a:ext cx="291236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translation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3435858" y="5757418"/>
            <a:ext cx="464972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Language A → language B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8099298" y="5757418"/>
            <a:ext cx="3643884" cy="59080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Encoder-Decoder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pipeline examples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Syntax you should recognize quickly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440680" cy="42062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Zero-shot classification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classifier = pipeline("zero-shot-classification")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classifier(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"This is a course about Transformers",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candidate_labels=["education", "politics", "business"]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Fill-mask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unmasker = pipeline("fill-mask")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unmasker("Paris is the &lt;mask&gt; of France.", top_k=3)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263640" y="1005840"/>
            <a:ext cx="5394960" cy="42062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Text generation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generator = pipeline("text-generation")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generator(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"In this course, we will teach you how to",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max_length=30,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num_return_sequences=2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Translation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translator = pipeline("translation",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model="Helsinki-NLP/opus-mt-fr-en")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1143000" y="5623560"/>
            <a:ext cx="9921240" cy="41148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Default model: downloaded once, then loaded from local cache on later runs.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architecture: the three families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Most models are encoder-only, decoder-only, or encoder-decoder.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families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most important table in Chapter 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9778" y="966978"/>
            <a:ext cx="1906524" cy="672084"/>
          </a:xfrm>
          <a:prstGeom prst="rect">
            <a:avLst/>
          </a:prstGeom>
          <a:solidFill>
            <a:srgbClr val="F1EE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Family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30018" y="966978"/>
            <a:ext cx="3095244" cy="672084"/>
          </a:xfrm>
          <a:prstGeom prst="rect">
            <a:avLst/>
          </a:prstGeom>
          <a:solidFill>
            <a:srgbClr val="F1EE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Examples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538978" y="966978"/>
            <a:ext cx="3003804" cy="672084"/>
          </a:xfrm>
          <a:prstGeom prst="rect">
            <a:avLst/>
          </a:prstGeom>
          <a:solidFill>
            <a:srgbClr val="F1EE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How it attends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56498" y="966978"/>
            <a:ext cx="3186684" cy="672084"/>
          </a:xfrm>
          <a:prstGeom prst="rect">
            <a:avLst/>
          </a:prstGeom>
          <a:solidFill>
            <a:srgbClr val="F1EE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Best tasks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9778" y="1652778"/>
            <a:ext cx="190652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Encoder-only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430018" y="1652778"/>
            <a:ext cx="309524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BERT, DistilBERT, ModernBERT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538978" y="1652778"/>
            <a:ext cx="300380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Bidirectional: sees left + right context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556498" y="1652778"/>
            <a:ext cx="318668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Classification, NER, Extractive QA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09778" y="2338578"/>
            <a:ext cx="1906524" cy="67208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Decoder-only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430018" y="2338578"/>
            <a:ext cx="3095244" cy="67208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GPT, Llama, Gemma, SmolLM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538978" y="2338578"/>
            <a:ext cx="3003804" cy="67208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Autoregressive: sees previous tokens only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556498" y="2338578"/>
            <a:ext cx="3186684" cy="67208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Text generation, chat, code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09778" y="3024378"/>
            <a:ext cx="190652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Encoder-Decoder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430018" y="3024378"/>
            <a:ext cx="309524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T5, BART, Marian, mBART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538978" y="3024378"/>
            <a:ext cx="300380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 understands; decoder generates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556498" y="3024378"/>
            <a:ext cx="3186684" cy="67208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Translation, summarization, seq2seq QA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10607040" cy="713232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937"/>
                </a:solidFill>
              </a:rPr>
              <a:t>Shortcut: Understanding → Encoder · Generation → Decoder · Transform one sequence into another → Encoder-Decoder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 of Transformer models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Do not memorize dates; memorize evolution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5212080" cy="804672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2017  Transformer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Attention Is All You Need; originally translation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85800" y="2130552"/>
            <a:ext cx="5212080" cy="804672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2018  GPT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first pretrained Transformer used for fine-tuning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85800" y="3300984"/>
            <a:ext cx="5212080" cy="804672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2018  BERT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encoder model for strong bidirectional representations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85800" y="4471416"/>
            <a:ext cx="5212080" cy="804672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2019  GPT-2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larger autoregressive language model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263640" y="960120"/>
            <a:ext cx="5212080" cy="804672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2019  T5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text-to-text / sequence-to-sequence approach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263640" y="2130552"/>
            <a:ext cx="5212080" cy="804672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2020  GPT-3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large decoder LLM with strong zero-shot ability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263640" y="3300984"/>
            <a:ext cx="5212080" cy="804672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2022  InstructGPT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trained to follow instructions better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263640" y="4471416"/>
            <a:ext cx="5212080" cy="804672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2023+  Llama / Mistral / Gemma / SmolLM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937"/>
                </a:solidFill>
              </a:rPr>
              <a:t>open and efficient modern LLM families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60120" y="5806440"/>
            <a:ext cx="101955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937"/>
                </a:solidFill>
              </a:rPr>
              <a:t>Evolution: original Transformer → pretrained models → larger LLMs → instruction-tuned and efficient models.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Original Transformer diagram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Useful visual memory: encoder side vs decoder side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pic>
        <p:nvPicPr>
          <p:cNvPr id="5" name="Image 0" descr="/mnt/data/extract_orig/ppt/media/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960120"/>
            <a:ext cx="7406640" cy="4041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005840"/>
            <a:ext cx="3337560" cy="30175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Read the diagram like this
</a:t>
            </a:r>
            <a:r>
              <a:rPr lang="en-US" sz="1380" dirty="0">
                <a:solidFill>
                  <a:srgbClr val="1F2937"/>
                </a:solidFill>
              </a:rPr>
              <a:t>• BERT-like models mainly use the encoder side
• GPT-like models mainly use the decoder side
• Encoder-decoder models use both
• Linear + Softmax convert hidden states into output probabilities
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385048" y="1444752"/>
            <a:ext cx="311810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5320" y="4480560"/>
            <a:ext cx="3337560" cy="68580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F2937"/>
                </a:solidFill>
              </a:rPr>
              <a:t>Important: modern models are variants, not exact copies of the original diagram.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Bidirectional vs autoregressive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memory diagram from the original deck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pic>
        <p:nvPicPr>
          <p:cNvPr id="5" name="Image 0" descr="/mnt/data/extract_orig/ppt/media/image-1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14400"/>
            <a:ext cx="106070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Bidirectional encoder: each token can use left and right context. Autoregressive decoder: each token can only use previous tokens.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Language modeling objectives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How models learn before task-specific fine-tuning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5074920" cy="23317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Causal Language Modeling — CLM
</a:t>
            </a:r>
            <a:r>
              <a:rPr lang="en-US" sz="1380" dirty="0">
                <a:solidFill>
                  <a:srgbClr val="1F2937"/>
                </a:solidFill>
              </a:rPr>
              <a:t>• Used by GPT-like decoder models
• Predict the next token from previous tokens
• Training objective for autoregressive generation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" y="1490472"/>
            <a:ext cx="48554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51560"/>
            <a:ext cx="5074920" cy="233172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Masked Language Modeling — MLM
</a:t>
            </a:r>
            <a:r>
              <a:rPr lang="en-US" sz="1380" dirty="0">
                <a:solidFill>
                  <a:srgbClr val="1F2937"/>
                </a:solidFill>
              </a:rPr>
              <a:t>• Used by BERT-like encoder models
• Mask some tokens and reconstruct them
• Learns bidirectional context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10528" y="1490472"/>
            <a:ext cx="485546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977640"/>
            <a:ext cx="996696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CLM:    The capital of France is  →  Paris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MLM:    Paris is the [MASK] of France  →  capital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5440680"/>
            <a:ext cx="9966960" cy="45720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CLM is an objective. Causal Mask is an attention restriction. Do not confuse them.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path: pretraining → fine-tuning → instruction tuning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Transfer learning is the key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Random weights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0" y="1097280"/>
            <a:ext cx="1828800" cy="4572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Pretraining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1920240" cy="45720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Pretrained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0" y="1097280"/>
            <a:ext cx="1828800" cy="4572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Fine-tuning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0" y="1097280"/>
            <a:ext cx="1920240" cy="45720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</a:rPr>
              <a:t>Task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383280" cy="21031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Pretraining
</a:t>
            </a:r>
            <a:r>
              <a:rPr lang="en-US" sz="1380" dirty="0">
                <a:solidFill>
                  <a:srgbClr val="1F2937"/>
                </a:solidFill>
              </a:rPr>
              <a:t>• Large raw text datasets
• Usually self-supervised
• Expensive: data, time, compute, energy
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95528" y="2587752"/>
            <a:ext cx="316382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148840"/>
            <a:ext cx="3383280" cy="210312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Fine-tuning
</a:t>
            </a:r>
            <a:r>
              <a:rPr lang="en-US" sz="1380" dirty="0">
                <a:solidFill>
                  <a:srgbClr val="1F2937"/>
                </a:solidFill>
              </a:rPr>
              <a:t>• Additional training after pretraining
• Uses task/domain dataset
• Updates weights with much less data
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44568" y="2587752"/>
            <a:ext cx="3163824" cy="0"/>
          </a:xfrm>
          <a:prstGeom prst="line">
            <a:avLst/>
          </a:prstGeom>
          <a:noFill/>
          <a:ln w="1905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2148840"/>
            <a:ext cx="3383280" cy="210312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Instruction tuning
</a:t>
            </a:r>
            <a:r>
              <a:rPr lang="en-US" sz="1380" dirty="0">
                <a:solidFill>
                  <a:srgbClr val="1F2937"/>
                </a:solidFill>
              </a:rPr>
              <a:t>• Fine-tunes model to follow instructions
• Important for chat behavior and refusals
• Base model ≠ instruct model
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93608" y="2587752"/>
            <a:ext cx="316382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Transformers solve tasks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Same backbone, different heads, different preprocessing.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BERT for understanding tasks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WordPiece, [CLS], [SEP], NSP, task heads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3657600" cy="233172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Input preparation
</a:t>
            </a:r>
            <a:r>
              <a:rPr lang="en-US" sz="1380" dirty="0">
                <a:solidFill>
                  <a:srgbClr val="1F2937"/>
                </a:solidFill>
              </a:rPr>
              <a:t>• WordPiece tokenization
• [CLS] at start for whole-sequence representation
• [SEP] separates sentence pairs
• Segment embeddings distinguish sentence A vs B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" y="1399032"/>
            <a:ext cx="343814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960120"/>
            <a:ext cx="3474720" cy="23317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Pretraining
</a:t>
            </a:r>
            <a:r>
              <a:rPr lang="en-US" sz="1380" dirty="0">
                <a:solidFill>
                  <a:srgbClr val="1F2937"/>
                </a:solidFill>
              </a:rPr>
              <a:t>• Masked Language Modeling: predict masked tokens
• Next Sentence Prediction: IsNext / NotNext
• Learns bidirectional representations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90288" y="1399032"/>
            <a:ext cx="32552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960120"/>
            <a:ext cx="3429000" cy="233172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Task heads
</a:t>
            </a:r>
            <a:r>
              <a:rPr lang="en-US" sz="1380" dirty="0">
                <a:solidFill>
                  <a:srgbClr val="1F2937"/>
                </a:solidFill>
              </a:rPr>
              <a:t>• Sequence classification head → class logits
• Token classification head → label per token
• QA span head → start/end logits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93608" y="1399032"/>
            <a:ext cx="320954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977640"/>
            <a:ext cx="1024128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[CLS] This movie is amazing [SEP]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↓ final [CLS] hidden state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Classification head → logits → POSITIVE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GPT-2 for text generation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BPE, causal mask, LM head, next-token prediction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21031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Tokenizer
</a:t>
            </a:r>
            <a:r>
              <a:rPr lang="en-US" sz="1380" dirty="0">
                <a:solidFill>
                  <a:srgbClr val="1F2937"/>
                </a:solidFill>
              </a:rPr>
              <a:t>• GPT-2 uses BPE tokenization
• Text becomes token IDs
• Token + position embeddings enter decoder blocks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1444752"/>
            <a:ext cx="32552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005840"/>
            <a:ext cx="3474720" cy="210312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Decoder blocks
</a:t>
            </a:r>
            <a:r>
              <a:rPr lang="en-US" sz="1380" dirty="0">
                <a:solidFill>
                  <a:srgbClr val="1F2937"/>
                </a:solidFill>
              </a:rPr>
              <a:t>• Masked self-attention blocks future tokens
• Only previous tokens influence the next token
• Output hidden states are generated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44568" y="1444752"/>
            <a:ext cx="3255264" cy="0"/>
          </a:xfrm>
          <a:prstGeom prst="line">
            <a:avLst/>
          </a:prstGeom>
          <a:noFill/>
          <a:ln w="1905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005840"/>
            <a:ext cx="3383280" cy="210312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LM head
</a:t>
            </a:r>
            <a:r>
              <a:rPr lang="en-US" sz="1380" dirty="0">
                <a:solidFill>
                  <a:srgbClr val="1F2937"/>
                </a:solidFill>
              </a:rPr>
              <a:t>• Linear layer converts hidden states to logits
• Softmax/sampling chooses next token
• Process repeats autoregressively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93608" y="1444752"/>
            <a:ext cx="316382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913632"/>
            <a:ext cx="10287000" cy="1207008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Prompt:  The capital of France 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Logits over vocabulary: Paris, London, Berlin, ...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Selected token: Paris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context: The capital of France is Paris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BART / T5 for sequence-to-sequence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Input sequence becomes a new output sequence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5029200" cy="233172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BART idea
</a:t>
            </a:r>
            <a:r>
              <a:rPr lang="en-US" sz="1380" dirty="0">
                <a:solidFill>
                  <a:srgbClr val="1F2937"/>
                </a:solidFill>
              </a:rPr>
              <a:t>• Encoder-decoder architecture
• Pretrained by corrupting text and reconstructing it
• Text infilling replaces spans with one mask token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1444752"/>
            <a:ext cx="4809744" cy="0"/>
          </a:xfrm>
          <a:prstGeom prst="line">
            <a:avLst/>
          </a:prstGeom>
          <a:noFill/>
          <a:ln w="1905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005840"/>
            <a:ext cx="5029200" cy="23317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Why useful
</a:t>
            </a:r>
            <a:r>
              <a:rPr lang="en-US" sz="1380" dirty="0">
                <a:solidFill>
                  <a:srgbClr val="1F2937"/>
                </a:solidFill>
              </a:rPr>
              <a:t>• Encoder understands the full input
• Decoder generates output token-by-token
• Cross-attention connects decoder to encoder outputs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10528" y="1444752"/>
            <a:ext cx="480974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31920"/>
            <a:ext cx="10149840" cy="1143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Summarization: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Long article → Encoder → Decoder → Short summary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Translation: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French sentence → Encoder → Decoder → English sentence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5532120"/>
            <a:ext cx="10149840" cy="438912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F2937"/>
                </a:solidFill>
              </a:rPr>
              <a:t>Sequence-to-sequence = input text is transformed into another text while preserving meaning.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Beyond text: ViT and Whisper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Transformers work across modalities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5166360" cy="301752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Vision Transformer — ViT
</a:t>
            </a:r>
            <a:r>
              <a:rPr lang="en-US" sz="1380" dirty="0">
                <a:solidFill>
                  <a:srgbClr val="1F2937"/>
                </a:solidFill>
              </a:rPr>
              <a:t>• Image is split into patches, like tokens
• Patch embeddings + position embeddings
• [CLS] representation goes to classification head
• Task example: image classification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" y="1444752"/>
            <a:ext cx="494690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05840"/>
            <a:ext cx="5166360" cy="30175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Whisper
</a:t>
            </a:r>
            <a:r>
              <a:rPr lang="en-US" sz="1380" dirty="0">
                <a:solidFill>
                  <a:srgbClr val="1F2937"/>
                </a:solidFill>
              </a:rPr>
              <a:t>• Audio becomes log-Mel spectrogram
• Encoder processes audio representation
• Decoder generates transcript tokens
• Task example: automatic speech recognition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64808" y="1444752"/>
            <a:ext cx="494690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00600"/>
            <a:ext cx="101498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Same pattern: input representation → Transformer → task-specific output.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inference and generation controls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What happens when a trained LLM answers a prompt.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Inference: prefill and decode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Modern LLM serving is usually a two-phase process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4983480" cy="278892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Prefill phase
</a:t>
            </a:r>
            <a:r>
              <a:rPr lang="en-US" sz="1380" dirty="0">
                <a:solidFill>
                  <a:srgbClr val="1F2937"/>
                </a:solidFill>
              </a:rPr>
              <a:t>• Process the full prompt
• Tokenization → embeddings → transformer pass
• Builds context for generation
• Mainly affects Time To First Token (TTFT)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1490472"/>
            <a:ext cx="476402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051560"/>
            <a:ext cx="4983480" cy="27889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Decode phase
</a:t>
            </a:r>
            <a:r>
              <a:rPr lang="en-US" sz="1380" dirty="0">
                <a:solidFill>
                  <a:srgbClr val="1F2937"/>
                </a:solidFill>
              </a:rPr>
              <a:t>• Generate one token at a time
• Each new token depends on previous tokens
• KV cache reused across steps
• Mainly affects Time Per Output Token (TPOT)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01968" y="1490472"/>
            <a:ext cx="476402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00600"/>
            <a:ext cx="1014984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Prompt → PREFILL → first token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first token → DECODE → token 2 → token 3 → ... → EOS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Sampling strategies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Control precision, diversity, and coherence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2743200" cy="224028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Temperature
</a:t>
            </a:r>
            <a:r>
              <a:rPr lang="en-US" sz="1380" dirty="0">
                <a:solidFill>
                  <a:srgbClr val="1F2937"/>
                </a:solidFill>
              </a:rPr>
              <a:t>• Higher: more random / diverse
• Lower: more focused / deterministic
• It changes sampling, not model intelligence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" y="1353312"/>
            <a:ext cx="252374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914400"/>
            <a:ext cx="2743200" cy="224028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Top-k
</a:t>
            </a:r>
            <a:r>
              <a:rPr lang="en-US" sz="1380" dirty="0">
                <a:solidFill>
                  <a:srgbClr val="1F2937"/>
                </a:solidFill>
              </a:rPr>
              <a:t>• Keep only the k most likely tokens
• Fixed number of candidates
• Example: top_k=5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30168" y="1353312"/>
            <a:ext cx="252374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914400"/>
            <a:ext cx="2743200" cy="224028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Top-p
</a:t>
            </a:r>
            <a:r>
              <a:rPr lang="en-US" sz="1380" dirty="0">
                <a:solidFill>
                  <a:srgbClr val="1F2937"/>
                </a:solidFill>
              </a:rPr>
              <a:t>• Keep tokens until cumulative probability reaches p
• Dynamic number of candidates
• Example: top_p=0.9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56248" y="1353312"/>
            <a:ext cx="252374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0" y="914400"/>
            <a:ext cx="2377440" cy="224028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Beam search
</a:t>
            </a:r>
            <a:r>
              <a:rPr lang="en-US" sz="1380" dirty="0">
                <a:solidFill>
                  <a:srgbClr val="1F2937"/>
                </a:solidFill>
              </a:rPr>
              <a:t>• Maintains multiple candidate sequences
• Looks ahead for high-probability paths
• More coherent but slower and more compute-heavy
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482328" y="1353312"/>
            <a:ext cx="215798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10652760" cy="68580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Exam trap: logits are raw scores; probabilities come after Softmax; token selection happens after sampling rules.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Beam search in one picture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Multiple paths are explored before choosing one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5303520" cy="3611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Step 0: Prompt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Step 1 candidates:  A, B, C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Step 2 candidates:  A1, A2, B1, B2, C1, C2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Keep best beams only → continue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Final: choose sequence with highest overall score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46520" y="1005840"/>
            <a:ext cx="5029200" cy="173736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Why use it?
</a:t>
            </a:r>
            <a:r>
              <a:rPr lang="en-US" sz="1380" dirty="0">
                <a:solidFill>
                  <a:srgbClr val="1F2937"/>
                </a:solidFill>
              </a:rPr>
              <a:t>• Often improves grammar and coherence
• Useful for translation and structured generation
• Less ideal when you want creative diversity
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56248" y="1444752"/>
            <a:ext cx="480974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3154680"/>
            <a:ext cx="5029200" cy="173736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Trade-off
</a:t>
            </a:r>
            <a:r>
              <a:rPr lang="en-US" sz="1380" dirty="0">
                <a:solidFill>
                  <a:srgbClr val="1F2937"/>
                </a:solidFill>
              </a:rPr>
              <a:t>• More candidate sequences = more compute
• Can be slower than simple sampling
• May produce safe but less creative text
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56248" y="3593592"/>
            <a:ext cx="480974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inference performance metrics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engineering view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2658" y="1058418"/>
            <a:ext cx="1997964" cy="516636"/>
          </a:xfrm>
          <a:prstGeom prst="rect">
            <a:avLst/>
          </a:prstGeom>
          <a:solidFill>
            <a:srgbClr val="EAF2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Metric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04338" y="1058418"/>
            <a:ext cx="4101084" cy="516636"/>
          </a:xfrm>
          <a:prstGeom prst="rect">
            <a:avLst/>
          </a:prstGeom>
          <a:solidFill>
            <a:srgbClr val="EAF2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Meaning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19138" y="1058418"/>
            <a:ext cx="4695444" cy="516636"/>
          </a:xfrm>
          <a:prstGeom prst="rect">
            <a:avLst/>
          </a:prstGeom>
          <a:solidFill>
            <a:srgbClr val="EAF2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Mostly affected by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92658" y="1588770"/>
            <a:ext cx="1997964" cy="516636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TTFT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704338" y="1588770"/>
            <a:ext cx="4101084" cy="516636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Time to First Token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819138" y="1588770"/>
            <a:ext cx="4695444" cy="516636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Prefill / prompt length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92658" y="2119122"/>
            <a:ext cx="1997964" cy="516636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TPOT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04338" y="2119122"/>
            <a:ext cx="4101084" cy="516636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Time Per Output Token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819138" y="2119122"/>
            <a:ext cx="4695444" cy="516636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Decode / KV cache / model size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92658" y="2649474"/>
            <a:ext cx="1997964" cy="516636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Throughput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704338" y="2649474"/>
            <a:ext cx="4101084" cy="516636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Requests or tokens handled per second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819138" y="2649474"/>
            <a:ext cx="4695444" cy="516636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batching, serving stack, hardware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92658" y="3179826"/>
            <a:ext cx="1997964" cy="516636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VRAM usage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704338" y="3179826"/>
            <a:ext cx="4101084" cy="516636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GPU memory needed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819138" y="3179826"/>
            <a:ext cx="4695444" cy="516636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model weights, context, KV cache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10332720" cy="132588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KV Cache
</a:t>
            </a:r>
            <a:r>
              <a:rPr lang="en-US" sz="1380" dirty="0">
                <a:solidFill>
                  <a:srgbClr val="1F2937"/>
                </a:solidFill>
              </a:rPr>
              <a:t>• Stores past keys and values from attention
• Avoids recomputing previous tokens every step
• Speeds up decoding but uses extra VRAM
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024128" y="4690872"/>
            <a:ext cx="101132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Limitations, cost, and long context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A strong model is not automatically safe, fair, cheap, or fast.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 example: fill-mask with BERT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Powerful pretrained model ≠ unbiased model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unmasker = pipeline("fill-mask", model="bert-base-uncased")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print([r["token_str"] for r 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unmasker("This man works as a [MASK].")])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print([r["token_str"] for r 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unmasker("This woman works as a [MASK].")])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46520" y="1005840"/>
            <a:ext cx="5074920" cy="141732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2937"/>
                </a:solidFill>
              </a:rPr>
              <a:t>Example outputs from the course: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F2937"/>
                </a:solidFill>
              </a:rPr>
              <a:t>Man → lawyer, carpenter, doctor, waiter, mechanic</a:t>
            </a: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1F2937"/>
                </a:solidFill>
              </a:rPr>
              <a:t>Woman → nurse, waitress, teacher, maid, prostitute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46520" y="2834640"/>
            <a:ext cx="5074920" cy="192024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Lesson
</a:t>
            </a:r>
            <a:r>
              <a:rPr lang="en-US" sz="1380" dirty="0">
                <a:solidFill>
                  <a:srgbClr val="1F2937"/>
                </a:solidFill>
              </a:rPr>
              <a:t>• Models learn statistical associations from training data
• Even apparently neutral datasets can contain bias
• Fine-tuning does not automatically remove intrinsic bias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56248" y="3273552"/>
            <a:ext cx="48554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Hallucination, bias, context limits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Three different failure modes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3474720" cy="297180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Hallucination
</a:t>
            </a:r>
            <a:r>
              <a:rPr lang="en-US" sz="1380" dirty="0">
                <a:solidFill>
                  <a:srgbClr val="1F2937"/>
                </a:solidFill>
              </a:rPr>
              <a:t>• The model generates false information confidently
• Fluent output does not mean correct output
• Requires verification or grounding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" y="1444752"/>
            <a:ext cx="325526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1005840"/>
            <a:ext cx="3474720" cy="297180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Bias
</a:t>
            </a:r>
            <a:r>
              <a:rPr lang="en-US" sz="1380" dirty="0">
                <a:solidFill>
                  <a:srgbClr val="1F2937"/>
                </a:solidFill>
              </a:rPr>
              <a:t>• The model reproduces unfair or stereotyped patterns
• Source can be training data or prompt wording
• Requires evaluation and mitigation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53128" y="1444752"/>
            <a:ext cx="325526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005840"/>
            <a:ext cx="3474720" cy="297180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Context limits
</a:t>
            </a:r>
            <a:r>
              <a:rPr lang="en-US" sz="1380" dirty="0">
                <a:solidFill>
                  <a:srgbClr val="1F2937"/>
                </a:solidFill>
              </a:rPr>
              <a:t>• The model only considers tokens inside its context window
• Longer context costs more compute and memory
• Context window is not permanent memory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02168" y="1444752"/>
            <a:ext cx="325526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92040"/>
            <a:ext cx="10469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Production rule: test for accuracy, bias, safety, privacy, latency, and resource cost before deployment.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Environmental cost and model sharing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Why pretrained checkpoints matter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5166360" cy="297180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Why training from scratch is expensive
</a:t>
            </a:r>
            <a:r>
              <a:rPr lang="en-US" sz="1380" dirty="0">
                <a:solidFill>
                  <a:srgbClr val="1F2937"/>
                </a:solidFill>
              </a:rPr>
              <a:t>• Large datasets and many GPUs
• Long training time and high electricity use
• Many experiments for hyperparameter search
• Cost can have financial and environmental impact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1490472"/>
            <a:ext cx="494690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51560"/>
            <a:ext cx="5166360" cy="297180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Why sharing helps
</a:t>
            </a:r>
            <a:r>
              <a:rPr lang="en-US" sz="1380" dirty="0">
                <a:solidFill>
                  <a:srgbClr val="1F2937"/>
                </a:solidFill>
              </a:rPr>
              <a:t>• Reuse pretrained weights instead of retraining
• Fine-tune smaller task datasets
• Lower compute, cost, time, and carbon footprint
• Hugging Face Hub enables reuse and transparency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64808" y="1490472"/>
            <a:ext cx="494690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983480"/>
            <a:ext cx="10149840" cy="566928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Practical takeaway: always try a good pretrained checkpoint before training from scratch.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Long-context models and efficient attention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Why O(n²) attention becomes a bottleneck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3474720" cy="251460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The problem
</a:t>
            </a:r>
            <a:r>
              <a:rPr lang="en-US" sz="1380" dirty="0">
                <a:solidFill>
                  <a:srgbClr val="1F2937"/>
                </a:solidFill>
              </a:rPr>
              <a:t>• Full attention compares many token pairs
• Cost grows quickly with sequence length
• Long prompts increase memory and latency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" y="1444752"/>
            <a:ext cx="325526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005840"/>
            <a:ext cx="3474720" cy="251460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Longformer
</a:t>
            </a:r>
            <a:r>
              <a:rPr lang="en-US" sz="1380" dirty="0">
                <a:solidFill>
                  <a:srgbClr val="1F2937"/>
                </a:solidFill>
              </a:rPr>
              <a:t>• Uses local attention windows
• Some tokens can receive global attention
• Useful for long documents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44568" y="1444752"/>
            <a:ext cx="325526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005840"/>
            <a:ext cx="3383280" cy="2514600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Reformer
</a:t>
            </a:r>
            <a:r>
              <a:rPr lang="en-US" sz="1380" dirty="0">
                <a:solidFill>
                  <a:srgbClr val="1F2937"/>
                </a:solidFill>
              </a:rPr>
              <a:t>• Uses LSH attention to focus on similar keys/queries
• Uses memory-saving positional encoding ideas
• Goal: make long sequences cheaper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93608" y="1444752"/>
            <a:ext cx="3163824" cy="0"/>
          </a:xfrm>
          <a:prstGeom prst="line">
            <a:avLst/>
          </a:prstGeom>
          <a:noFill/>
          <a:ln w="1905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00600"/>
            <a:ext cx="10469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For Chapter 1: know the idea, not the math. Efficient attention = a way to make long sequences more practical.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vs checkpoint vs model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This distinction matters on Hugging Face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3383280" cy="292608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Architecture
</a:t>
            </a:r>
            <a:r>
              <a:rPr lang="en-US" sz="1380" dirty="0">
                <a:solidFill>
                  <a:srgbClr val="1F2937"/>
                </a:solidFill>
              </a:rPr>
              <a:t>• The skeleton / blueprint of the neural network
• Defines layers, attention blocks, hidden size, operations
• Example: BERT architecture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5528" y="1490472"/>
            <a:ext cx="316382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051560"/>
            <a:ext cx="3383280" cy="292608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Checkpoint
</a:t>
            </a:r>
            <a:r>
              <a:rPr lang="en-US" sz="1380" dirty="0">
                <a:solidFill>
                  <a:srgbClr val="1F2937"/>
                </a:solidFill>
              </a:rPr>
              <a:t>• A saved set of learned weights for an architecture
• Loaded into the architecture for inference or fine-tuning
• Example: bert-base-cased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44568" y="1490472"/>
            <a:ext cx="316382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051560"/>
            <a:ext cx="3383280" cy="292608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Model
</a:t>
            </a:r>
            <a:r>
              <a:rPr lang="en-US" sz="1380" dirty="0">
                <a:solidFill>
                  <a:srgbClr val="1F2937"/>
                </a:solidFill>
              </a:rPr>
              <a:t>• Umbrella term; can mean architecture or checkpoint
• Use precise words when the difference matters
• Example: “BERT model” can be ambiguous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93608" y="1490472"/>
            <a:ext cx="3163824" cy="0"/>
          </a:xfrm>
          <a:prstGeom prst="line">
            <a:avLst/>
          </a:prstGeom>
          <a:noFill/>
          <a:ln w="19050">
            <a:solidFill>
              <a:srgbClr val="059669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09160"/>
            <a:ext cx="103327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pipeline("fill-mask", model="bert-base-cased")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model name points to a checkpoint; Transformers builds the right architecture and loads weights.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choice cheat sheet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question to ask before selecting a model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5498" y="1012698"/>
            <a:ext cx="4192524" cy="664464"/>
          </a:xfrm>
          <a:prstGeom prst="rect">
            <a:avLst/>
          </a:prstGeom>
          <a:solidFill>
            <a:srgbClr val="E8F8F1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Question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61738" y="1012698"/>
            <a:ext cx="3186684" cy="664464"/>
          </a:xfrm>
          <a:prstGeom prst="rect">
            <a:avLst/>
          </a:prstGeom>
          <a:solidFill>
            <a:srgbClr val="E8F8F1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If yes, choose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62138" y="1012698"/>
            <a:ext cx="3735324" cy="664464"/>
          </a:xfrm>
          <a:prstGeom prst="rect">
            <a:avLst/>
          </a:prstGeom>
          <a:solidFill>
            <a:srgbClr val="E8F8F1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Examples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5498" y="1690878"/>
            <a:ext cx="419252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Do I need deep understanding of the full input?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761738" y="1690878"/>
            <a:ext cx="318668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Encoder-only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962138" y="1690878"/>
            <a:ext cx="373532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BERT, RoBERTa, DistilBERT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55498" y="2369058"/>
            <a:ext cx="4192524" cy="66446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Do I need to generate open-ended text?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761738" y="2369058"/>
            <a:ext cx="3186684" cy="66446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Decoder-only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962138" y="2369058"/>
            <a:ext cx="3735324" cy="66446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GPT, Llama, Gemma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55498" y="3047238"/>
            <a:ext cx="419252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Do I need to transform one sequence into another?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761738" y="3047238"/>
            <a:ext cx="318668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Encoder-Decoder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962138" y="3047238"/>
            <a:ext cx="373532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T5, BART, Marian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55498" y="3725418"/>
            <a:ext cx="4192524" cy="66446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Is answer extracted from context?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761738" y="3725418"/>
            <a:ext cx="3186684" cy="66446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Encoder-only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962138" y="3725418"/>
            <a:ext cx="3735324" cy="664464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Extractive QA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55498" y="4403598"/>
            <a:ext cx="419252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Is answer generated freely?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761738" y="4403598"/>
            <a:ext cx="318668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Decoder or Encoder-Decoder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962138" y="4403598"/>
            <a:ext cx="3735324" cy="664464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Generative QA / Chat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Fast exam mapping: Classification → Encoder · Generation → Decoder · Translation/Summarization → Encoder-Decoder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security / red teaming 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The same concepts explain why LLM systems can fail.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Chapter 1 connects to AI Red Teaming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From model behavior to test design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5166360" cy="228600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Prompt injection
</a:t>
            </a:r>
            <a:r>
              <a:rPr lang="en-US" sz="1380" dirty="0">
                <a:solidFill>
                  <a:srgbClr val="1F2937"/>
                </a:solidFill>
              </a:rPr>
              <a:t>• Instructions and data enter the same context as tokens
• Long context can include untrusted documents or tool outputs
• Generation depends on context and sampling parameters
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1444752"/>
            <a:ext cx="4946904" cy="0"/>
          </a:xfrm>
          <a:prstGeom prst="line">
            <a:avLst/>
          </a:prstGeom>
          <a:noFill/>
          <a:ln w="19050">
            <a:solidFill>
              <a:srgbClr val="DC2626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005840"/>
            <a:ext cx="5166360" cy="228600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Reproducibility
</a:t>
            </a:r>
            <a:r>
              <a:rPr lang="en-US" sz="1380" dirty="0">
                <a:solidFill>
                  <a:srgbClr val="1F2937"/>
                </a:solidFill>
              </a:rPr>
              <a:t>• Record architecture, checkpoint, tokenizer, and version
• Record temperature, top_p, top_k, max tokens
• Base model and instruct model may behave differently
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64808" y="1444752"/>
            <a:ext cx="4946904" cy="0"/>
          </a:xfrm>
          <a:prstGeom prst="line">
            <a:avLst/>
          </a:prstGeom>
          <a:noFill/>
          <a:ln w="1905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886200"/>
            <a:ext cx="10149840" cy="141732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Safety evaluation targets
</a:t>
            </a:r>
            <a:r>
              <a:rPr lang="en-US" sz="1380" dirty="0">
                <a:solidFill>
                  <a:srgbClr val="1F2937"/>
                </a:solidFill>
              </a:rPr>
              <a:t>• Bias and stereotypes
• Hallucinations and unsupported claims
• Prompt extraction, jailbreaks, unsafe tool use
• Resource exhaustion from long context or long output
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115568" y="4325112"/>
            <a:ext cx="9930384" cy="0"/>
          </a:xfrm>
          <a:prstGeom prst="line">
            <a:avLst/>
          </a:prstGeom>
          <a:noFill/>
          <a:ln w="1905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4124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 and revision pack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86868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</a:rPr>
              <a:t>Practice the traps, then do the quiz.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remember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Choose the right mental model first. Details become easier later.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0" y="640080"/>
            <a:ext cx="1828800" cy="1828800"/>
          </a:xfrm>
          <a:prstGeom prst="arc">
            <a:avLst/>
          </a:prstGeom>
          <a:noFill/>
          <a:ln w="762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questions — architecture and training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Answer before checking the next slide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97280"/>
            <a:ext cx="10469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1. Which architecture is best for Named Entity Recognition?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2. During fine-tuning, what happens to pretrained weights?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3. Which objective predicts the next token?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4. Is bert-base-cased an architecture or checkpoint?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5. Which architecture is best for translation?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6. What does a causal mask prevent?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5486400"/>
            <a:ext cx="9875520" cy="502920"/>
          </a:xfrm>
          <a:prstGeom prst="rect">
            <a:avLst/>
          </a:prstGeom>
          <a:solidFill>
            <a:srgbClr val="FFF7C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Tip: reason from task type first, then choose architecture.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key — architecture and training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Use it for revision, not guessing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51560"/>
            <a:ext cx="10469880" cy="425196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1. Encoder-only. NER needs token-level understanding.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2. They are updated using task-specific data.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3. Causal Language Modeling.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4. Checkpoint. BERT is the architecture.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5. Encoder-Decoder. Translation is sequence-to-sequence.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1F2937"/>
                </a:solidFill>
              </a:rPr>
              <a:t>6. It prevents the decoder from seeing future tokens.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questions — inference and limitations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Fast check before certificate quiz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51560"/>
            <a:ext cx="10469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150" dirty="0">
                <a:solidFill>
                  <a:srgbClr val="1F2937"/>
                </a:solidFill>
              </a:rPr>
              <a:t>1. What is the difference between prefill and decode?</a:t>
            </a:r>
            <a:endParaRPr lang="en-US" sz="2150" dirty="0"/>
          </a:p>
          <a:p>
            <a:pPr marL="0" indent="0" algn="l">
              <a:buNone/>
            </a:pPr>
            <a:r>
              <a:rPr lang="en-US" sz="2150" dirty="0">
                <a:solidFill>
                  <a:srgbClr val="1F2937"/>
                </a:solidFill>
              </a:rPr>
              <a:t>2. Are logits the same as probabilities?</a:t>
            </a:r>
            <a:endParaRPr lang="en-US" sz="2150" dirty="0"/>
          </a:p>
          <a:p>
            <a:pPr marL="0" indent="0" algn="l">
              <a:buNone/>
            </a:pPr>
            <a:r>
              <a:rPr lang="en-US" sz="2150" dirty="0">
                <a:solidFill>
                  <a:srgbClr val="1F2937"/>
                </a:solidFill>
              </a:rPr>
              <a:t>3. What happens when temperature increases?</a:t>
            </a:r>
            <a:endParaRPr lang="en-US" sz="2150" dirty="0"/>
          </a:p>
          <a:p>
            <a:pPr marL="0" indent="0" algn="l">
              <a:buNone/>
            </a:pPr>
            <a:r>
              <a:rPr lang="en-US" sz="2150" dirty="0">
                <a:solidFill>
                  <a:srgbClr val="1F2937"/>
                </a:solidFill>
              </a:rPr>
              <a:t>4. Top-k vs top-p: what is the difference?</a:t>
            </a:r>
            <a:endParaRPr lang="en-US" sz="2150" dirty="0"/>
          </a:p>
          <a:p>
            <a:pPr marL="0" indent="0" algn="l">
              <a:buNone/>
            </a:pPr>
            <a:r>
              <a:rPr lang="en-US" sz="2150" dirty="0">
                <a:solidFill>
                  <a:srgbClr val="1F2937"/>
                </a:solidFill>
              </a:rPr>
              <a:t>5. Why does KV cache speed up generation?</a:t>
            </a:r>
            <a:endParaRPr lang="en-US" sz="2150" dirty="0"/>
          </a:p>
          <a:p>
            <a:pPr marL="0" indent="0" algn="l">
              <a:buNone/>
            </a:pPr>
            <a:r>
              <a:rPr lang="en-US" sz="2150" dirty="0">
                <a:solidFill>
                  <a:srgbClr val="1F2937"/>
                </a:solidFill>
              </a:rPr>
              <a:t>6. Why can fine-tuning fail to remove bias?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key — inference and limitations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The wording to memorize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10789920" cy="4800600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l">
              <a:buNone/>
            </a:pPr>
            <a:r>
              <a:rPr lang="en-US" sz="2050" dirty="0">
                <a:solidFill>
                  <a:srgbClr val="1F2937"/>
                </a:solidFill>
              </a:rPr>
              <a:t>1. Prefill processes the prompt; decode generates tokens one by one.</a:t>
            </a:r>
            <a:endParaRPr lang="en-US" sz="2050" dirty="0"/>
          </a:p>
          <a:p>
            <a:pPr marL="0" indent="0" algn="l">
              <a:buNone/>
            </a:pPr>
            <a:r>
              <a:rPr lang="en-US" sz="2050" dirty="0">
                <a:solidFill>
                  <a:srgbClr val="1F2937"/>
                </a:solidFill>
              </a:rPr>
              <a:t>2. No. Logits are raw scores; probabilities come after Softmax.</a:t>
            </a:r>
            <a:endParaRPr lang="en-US" sz="2050" dirty="0"/>
          </a:p>
          <a:p>
            <a:pPr marL="0" indent="0" algn="l">
              <a:buNone/>
            </a:pPr>
            <a:r>
              <a:rPr lang="en-US" sz="2050" dirty="0">
                <a:solidFill>
                  <a:srgbClr val="1F2937"/>
                </a:solidFill>
              </a:rPr>
              <a:t>3. Output becomes more random/diverse.</a:t>
            </a:r>
            <a:endParaRPr lang="en-US" sz="2050" dirty="0"/>
          </a:p>
          <a:p>
            <a:pPr marL="0" indent="0" algn="l">
              <a:buNone/>
            </a:pPr>
            <a:r>
              <a:rPr lang="en-US" sz="2050" dirty="0">
                <a:solidFill>
                  <a:srgbClr val="1F2937"/>
                </a:solidFill>
              </a:rPr>
              <a:t>4. Top-k keeps a fixed number of best tokens; top-p keeps a dynamic set by cumulative probability.</a:t>
            </a:r>
            <a:endParaRPr lang="en-US" sz="2050" dirty="0"/>
          </a:p>
          <a:p>
            <a:pPr marL="0" indent="0" algn="l">
              <a:buNone/>
            </a:pPr>
            <a:r>
              <a:rPr lang="en-US" sz="2050" dirty="0">
                <a:solidFill>
                  <a:srgbClr val="1F2937"/>
                </a:solidFill>
              </a:rPr>
              <a:t>5. It reuses past key/value attention computations.</a:t>
            </a:r>
            <a:endParaRPr lang="en-US" sz="2050" dirty="0"/>
          </a:p>
          <a:p>
            <a:pPr marL="0" indent="0" algn="l">
              <a:buNone/>
            </a:pPr>
            <a:r>
              <a:rPr lang="en-US" sz="2050" dirty="0">
                <a:solidFill>
                  <a:srgbClr val="1F2937"/>
                </a:solidFill>
              </a:rPr>
              <a:t>6. Bias can be encoded in pretrained weights learned from data.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cram sheet — terms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One-slide memory dump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1218" y="875538"/>
            <a:ext cx="2820924" cy="507492"/>
          </a:xfrm>
          <a:prstGeom prst="rect">
            <a:avLst/>
          </a:prstGeom>
          <a:solidFill>
            <a:srgbClr val="FFF2D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Term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435858" y="875538"/>
            <a:ext cx="8124444" cy="507492"/>
          </a:xfrm>
          <a:prstGeom prst="rect">
            <a:avLst/>
          </a:prstGeom>
          <a:solidFill>
            <a:srgbClr val="FFF2D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Meaning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1218" y="1396746"/>
            <a:ext cx="282092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NLP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435858" y="1396746"/>
            <a:ext cx="812444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Field for processing human language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01218" y="1917954"/>
            <a:ext cx="282092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LLM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435858" y="1917954"/>
            <a:ext cx="812444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Large language model trained on massive text data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01218" y="2439162"/>
            <a:ext cx="282092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Tokenizer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35858" y="2439162"/>
            <a:ext cx="812444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Text → tokens → token IDs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1218" y="2960370"/>
            <a:ext cx="282092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Embedding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435858" y="2960370"/>
            <a:ext cx="812444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Numerical vector representation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01218" y="3481578"/>
            <a:ext cx="282092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Attention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435858" y="3481578"/>
            <a:ext cx="812444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Mechanism for focusing on relevant context tokens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1218" y="4002786"/>
            <a:ext cx="282092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Logits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3435858" y="4002786"/>
            <a:ext cx="812444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Raw model scores before probabilities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01218" y="4523994"/>
            <a:ext cx="282092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Softmax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3435858" y="4523994"/>
            <a:ext cx="812444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Converts logits into probabilities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01218" y="5045202"/>
            <a:ext cx="282092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Inference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435858" y="5045202"/>
            <a:ext cx="8124444" cy="507492"/>
          </a:xfrm>
          <a:prstGeom prst="rect">
            <a:avLst/>
          </a:prstGeom>
          <a:solidFill>
            <a:srgbClr val="FFFDF8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Use trained model; weights do not change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01218" y="5566410"/>
            <a:ext cx="282092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Fine-tuning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435858" y="5566410"/>
            <a:ext cx="8124444" cy="507492"/>
          </a:xfrm>
          <a:prstGeom prst="rect">
            <a:avLst/>
          </a:prstGeom>
          <a:solidFill>
            <a:srgbClr val="FFFFFF"/>
          </a:solidFill>
          <a:ln w="7620">
            <a:solidFill>
              <a:srgbClr val="E6D7B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Additional training; weights update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cram sheet — mappings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What to say without hesitation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10515600" cy="658368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BERT → Encoder-only → Bidirectional → Masked LM → Understanding tasks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15600" cy="658368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GPT / Llama → Decoder-only → Autoregressive → Causal LM → Generation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0515600" cy="658368"/>
          </a:xfrm>
          <a:prstGeom prst="rect">
            <a:avLst/>
          </a:prstGeom>
          <a:solidFill>
            <a:srgbClr val="F1EE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T5 / BART → Encoder-Decoder → Sequence-to-Sequence → Translation / Summarization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10515600" cy="658368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pipeline() → Preprocessing → Model Inference → Post-processing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10515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Final pipeline: Text → Token IDs → Embeddings → Transformer → Head → Logits → Output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995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869680" y="283464"/>
            <a:ext cx="26974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</a:rPr>
              <a:t>What Chapter 1 should leave in your head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7200" y="676656"/>
            <a:ext cx="11247120" cy="0"/>
          </a:xfrm>
          <a:prstGeom prst="line">
            <a:avLst/>
          </a:prstGeom>
          <a:noFill/>
          <a:ln w="12700">
            <a:solidFill>
              <a:srgbClr val="E6D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97280"/>
            <a:ext cx="10469880" cy="777240"/>
          </a:xfrm>
          <a:prstGeom prst="rect">
            <a:avLst/>
          </a:prstGeom>
          <a:solidFill>
            <a:srgbClr val="FFF2D8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937"/>
                </a:solidFill>
              </a:rPr>
              <a:t>Transformer models are flexible architectures. The task decides whether you need an encoder, a decoder, or both.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10469880" cy="777240"/>
          </a:xfrm>
          <a:prstGeom prst="rect">
            <a:avLst/>
          </a:prstGeom>
          <a:solidFill>
            <a:srgbClr val="EAF2FF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LLM generation is autoregressive inference: prompt is processed, logits are produced, tokens are selected, and context grows until stopping.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10469880" cy="777240"/>
          </a:xfrm>
          <a:prstGeom prst="rect">
            <a:avLst/>
          </a:prstGeom>
          <a:solidFill>
            <a:srgbClr val="FDECEC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937"/>
                </a:solidFill>
              </a:rPr>
              <a:t>For real projects, always record model checkpoint, tokenizer, sampling parameters, context length, and safety limitations.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709160"/>
            <a:ext cx="10469880" cy="566928"/>
          </a:xfrm>
          <a:prstGeom prst="rect">
            <a:avLst/>
          </a:prstGeom>
          <a:solidFill>
            <a:srgbClr val="E8F8F1"/>
          </a:solidFill>
          <a:ln w="12700">
            <a:solidFill>
              <a:srgbClr val="E6D7B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Ready for Chapter 2: using Transformers in practice and understanding what happens inside a pipeline.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471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CA3AF"/>
                </a:solidFill>
              </a:rPr>
              <a:t>HF LLM Course — Chapter 1 Ultimate Revision · 44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4283</Words>
  <Application>Microsoft Office PowerPoint</Application>
  <PresentationFormat>Widescreen</PresentationFormat>
  <Paragraphs>514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Hugging Face Chapter 1 Ultimate Revision</dc:title>
  <dc:subject>Hugging Face LLM Course Chapter 1 Revision</dc:subject>
  <dc:creator>OpenAI</dc:creator>
  <cp:lastModifiedBy>Taha El-cheikh</cp:lastModifiedBy>
  <cp:revision>1</cp:revision>
  <dcterms:created xsi:type="dcterms:W3CDTF">2026-08-26T20:20:26Z</dcterms:created>
  <dcterms:modified xsi:type="dcterms:W3CDTF">2026-09-04T13:19:21Z</dcterms:modified>
</cp:coreProperties>
</file>